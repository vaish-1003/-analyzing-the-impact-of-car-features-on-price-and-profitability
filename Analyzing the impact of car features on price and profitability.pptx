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EFCO Brookshire" panose="020B0604020202020204" charset="0"/>
      <p:regular r:id="rId17"/>
    </p:embeddedFont>
    <p:embeddedFont>
      <p:font typeface="Katibeh" panose="020B0604020202020204" charset="-78"/>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33" y="-123128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alphaModFix amt="95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2077336" y="2691840"/>
            <a:ext cx="14133328" cy="4903319"/>
          </a:xfrm>
          <a:custGeom>
            <a:avLst/>
            <a:gdLst/>
            <a:ahLst/>
            <a:cxnLst/>
            <a:rect l="l" t="t" r="r" b="b"/>
            <a:pathLst>
              <a:path w="14133328" h="4903319">
                <a:moveTo>
                  <a:pt x="0" y="0"/>
                </a:moveTo>
                <a:lnTo>
                  <a:pt x="14133328" y="0"/>
                </a:lnTo>
                <a:lnTo>
                  <a:pt x="14133328" y="4903320"/>
                </a:lnTo>
                <a:lnTo>
                  <a:pt x="0" y="4903320"/>
                </a:lnTo>
                <a:lnTo>
                  <a:pt x="0" y="0"/>
                </a:lnTo>
                <a:close/>
              </a:path>
            </a:pathLst>
          </a:custGeom>
          <a:blipFill>
            <a:blip r:embed="rId5"/>
            <a:stretch>
              <a:fillRect/>
            </a:stretch>
          </a:blipFill>
        </p:spPr>
      </p:sp>
      <p:sp>
        <p:nvSpPr>
          <p:cNvPr id="8" name="TextBox 8"/>
          <p:cNvSpPr txBox="1"/>
          <p:nvPr/>
        </p:nvSpPr>
        <p:spPr>
          <a:xfrm>
            <a:off x="5967661" y="7578838"/>
            <a:ext cx="6352679" cy="765175"/>
          </a:xfrm>
          <a:prstGeom prst="rect">
            <a:avLst/>
          </a:prstGeom>
        </p:spPr>
        <p:txBody>
          <a:bodyPr lIns="0" tIns="0" rIns="0" bIns="0" rtlCol="0" anchor="t">
            <a:spAutoFit/>
          </a:bodyPr>
          <a:lstStyle/>
          <a:p>
            <a:pPr algn="ctr">
              <a:lnSpc>
                <a:spcPts val="5600"/>
              </a:lnSpc>
            </a:pPr>
            <a:r>
              <a:rPr lang="en-US" sz="4000">
                <a:solidFill>
                  <a:srgbClr val="30281A"/>
                </a:solidFill>
                <a:latin typeface="Katibeh"/>
                <a:ea typeface="Katibeh"/>
                <a:cs typeface="Katibeh"/>
                <a:sym typeface="Katibeh"/>
              </a:rPr>
              <a:t>by Vaishnavi muthyam</a:t>
            </a:r>
          </a:p>
        </p:txBody>
      </p:sp>
      <p:sp>
        <p:nvSpPr>
          <p:cNvPr id="9" name="TextBox 9"/>
          <p:cNvSpPr txBox="1"/>
          <p:nvPr/>
        </p:nvSpPr>
        <p:spPr>
          <a:xfrm>
            <a:off x="4098090" y="3558669"/>
            <a:ext cx="10424329" cy="4182094"/>
          </a:xfrm>
          <a:prstGeom prst="rect">
            <a:avLst/>
          </a:prstGeom>
        </p:spPr>
        <p:txBody>
          <a:bodyPr lIns="0" tIns="0" rIns="0" bIns="0" rtlCol="0" anchor="t">
            <a:spAutoFit/>
          </a:bodyPr>
          <a:lstStyle/>
          <a:p>
            <a:pPr algn="ctr">
              <a:lnSpc>
                <a:spcPts val="8365"/>
              </a:lnSpc>
            </a:pPr>
            <a:r>
              <a:rPr lang="en-US" sz="5975">
                <a:solidFill>
                  <a:srgbClr val="30281A"/>
                </a:solidFill>
                <a:latin typeface="EFCO Brookshire"/>
                <a:ea typeface="EFCO Brookshire"/>
                <a:cs typeface="EFCO Brookshire"/>
                <a:sym typeface="EFCO Brookshire"/>
              </a:rPr>
              <a:t>Analyzing the Impact of Car Features on Price and Profitability</a:t>
            </a:r>
          </a:p>
          <a:p>
            <a:pPr algn="ctr">
              <a:lnSpc>
                <a:spcPts val="8365"/>
              </a:lnSpc>
              <a:spcBef>
                <a:spcPct val="0"/>
              </a:spcBef>
            </a:pPr>
            <a:endParaRPr lang="en-US" sz="5975">
              <a:solidFill>
                <a:srgbClr val="30281A"/>
              </a:solidFill>
              <a:latin typeface="EFCO Brookshire"/>
              <a:ea typeface="EFCO Brookshire"/>
              <a:cs typeface="EFCO Brookshire"/>
              <a:sym typeface="EFCO Brookshir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34" y="-342900"/>
            <a:ext cx="19211667" cy="12749561"/>
          </a:xfrm>
          <a:custGeom>
            <a:avLst/>
            <a:gdLst/>
            <a:ahLst/>
            <a:cxnLst/>
            <a:rect l="l" t="t" r="r" b="b"/>
            <a:pathLst>
              <a:path w="19211667" h="12749561">
                <a:moveTo>
                  <a:pt x="0" y="0"/>
                </a:moveTo>
                <a:lnTo>
                  <a:pt x="19211666" y="0"/>
                </a:lnTo>
                <a:lnTo>
                  <a:pt x="19211666" y="12749561"/>
                </a:lnTo>
                <a:lnTo>
                  <a:pt x="0" y="127495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TextBox 7"/>
          <p:cNvSpPr txBox="1"/>
          <p:nvPr/>
        </p:nvSpPr>
        <p:spPr>
          <a:xfrm>
            <a:off x="3658320" y="-133350"/>
            <a:ext cx="10555724" cy="1243315"/>
          </a:xfrm>
          <a:prstGeom prst="rect">
            <a:avLst/>
          </a:prstGeom>
        </p:spPr>
        <p:txBody>
          <a:bodyPr lIns="0" tIns="0" rIns="0" bIns="0" rtlCol="0" anchor="t">
            <a:spAutoFit/>
          </a:bodyPr>
          <a:lstStyle/>
          <a:p>
            <a:pPr algn="ctr">
              <a:lnSpc>
                <a:spcPts val="10220"/>
              </a:lnSpc>
            </a:pPr>
            <a:r>
              <a:rPr lang="en-US" sz="7300" b="1" dirty="0">
                <a:solidFill>
                  <a:srgbClr val="716B5C"/>
                </a:solidFill>
                <a:latin typeface="EFCO Brookshire"/>
                <a:ea typeface="EFCO Brookshire"/>
                <a:cs typeface="EFCO Brookshire"/>
                <a:sym typeface="EFCO Brookshire"/>
              </a:rPr>
              <a:t>project description</a:t>
            </a:r>
          </a:p>
        </p:txBody>
      </p:sp>
      <p:sp>
        <p:nvSpPr>
          <p:cNvPr id="8" name="TextBox 8"/>
          <p:cNvSpPr txBox="1"/>
          <p:nvPr/>
        </p:nvSpPr>
        <p:spPr>
          <a:xfrm>
            <a:off x="1219200" y="2307155"/>
            <a:ext cx="16230600" cy="15959690"/>
          </a:xfrm>
          <a:prstGeom prst="rect">
            <a:avLst/>
          </a:prstGeom>
        </p:spPr>
        <p:txBody>
          <a:bodyPr lIns="0" tIns="0" rIns="0" bIns="0" rtlCol="0" anchor="t">
            <a:spAutoFit/>
          </a:bodyPr>
          <a:lstStyle/>
          <a:p>
            <a:pPr algn="ctr">
              <a:lnSpc>
                <a:spcPts val="4897"/>
              </a:lnSpc>
            </a:pPr>
            <a:r>
              <a:rPr lang="en-US" sz="3497" dirty="0">
                <a:solidFill>
                  <a:srgbClr val="716B5C"/>
                </a:solidFill>
                <a:latin typeface="EFCO Brookshire"/>
                <a:ea typeface="EFCO Brookshire"/>
                <a:cs typeface="EFCO Brookshire"/>
                <a:sym typeface="EFCO Brookshire"/>
              </a:rPr>
              <a:t> The automotive industry is strongly influenced by a large number of factors, including the features and specifications of a car model &amp; continuously evolving with human preferences &amp; technological advancements. This project aims to analyze how various car features—such as brand, engine fuel type, engine hp, engine cylinders transmission, fuel efficiency, no of doors, market category, vehicle style &amp; size, popularity &amp; price affect the pricing strategies and overall profitability .By examining the relationship between these features and car prices, It will provide us with valuable insights for car manufacturers, marketers, and stakeholders in the automotive industry, helping them optimize their product offerings, pricing strategies, and overall profitability by focusing on features that meet market demands..</a:t>
            </a:r>
          </a:p>
          <a:p>
            <a:pPr algn="ctr">
              <a:lnSpc>
                <a:spcPts val="13848"/>
              </a:lnSpc>
            </a:pPr>
            <a:endParaRPr lang="en-US" sz="3497" dirty="0">
              <a:solidFill>
                <a:srgbClr val="716B5C"/>
              </a:solidFill>
              <a:latin typeface="EFCO Brookshire"/>
              <a:ea typeface="EFCO Brookshire"/>
              <a:cs typeface="EFCO Brookshire"/>
              <a:sym typeface="EFCO Brookshire"/>
            </a:endParaRPr>
          </a:p>
          <a:p>
            <a:pPr algn="ctr">
              <a:lnSpc>
                <a:spcPts val="13848"/>
              </a:lnSpc>
            </a:pPr>
            <a:endParaRPr lang="en-US" sz="3497" dirty="0">
              <a:solidFill>
                <a:srgbClr val="716B5C"/>
              </a:solidFill>
              <a:latin typeface="EFCO Brookshire"/>
              <a:ea typeface="EFCO Brookshire"/>
              <a:cs typeface="EFCO Brookshire"/>
              <a:sym typeface="EFCO Brookshire"/>
            </a:endParaRPr>
          </a:p>
          <a:p>
            <a:pPr algn="ctr">
              <a:lnSpc>
                <a:spcPts val="13848"/>
              </a:lnSpc>
            </a:pPr>
            <a:endParaRPr lang="en-US" sz="3497" dirty="0">
              <a:solidFill>
                <a:srgbClr val="716B5C"/>
              </a:solidFill>
              <a:latin typeface="EFCO Brookshire"/>
              <a:ea typeface="EFCO Brookshire"/>
              <a:cs typeface="EFCO Brookshire"/>
              <a:sym typeface="EFCO Brookshire"/>
            </a:endParaRPr>
          </a:p>
          <a:p>
            <a:pPr algn="ctr">
              <a:lnSpc>
                <a:spcPts val="13848"/>
              </a:lnSpc>
            </a:pPr>
            <a:endParaRPr lang="en-US" sz="3497" dirty="0">
              <a:solidFill>
                <a:srgbClr val="716B5C"/>
              </a:solidFill>
              <a:latin typeface="EFCO Brookshire"/>
              <a:ea typeface="EFCO Brookshire"/>
              <a:cs typeface="EFCO Brookshire"/>
              <a:sym typeface="EFCO Brookshire"/>
            </a:endParaRPr>
          </a:p>
          <a:p>
            <a:pPr algn="ctr">
              <a:lnSpc>
                <a:spcPts val="13848"/>
              </a:lnSpc>
            </a:pPr>
            <a:endParaRPr lang="en-US" sz="3497" dirty="0">
              <a:solidFill>
                <a:srgbClr val="716B5C"/>
              </a:solidFill>
              <a:latin typeface="EFCO Brookshire"/>
              <a:ea typeface="EFCO Brookshire"/>
              <a:cs typeface="EFCO Brookshire"/>
              <a:sym typeface="EFCO Brookshire"/>
            </a:endParaRPr>
          </a:p>
          <a:p>
            <a:pPr algn="ctr">
              <a:lnSpc>
                <a:spcPts val="13848"/>
              </a:lnSpc>
              <a:spcBef>
                <a:spcPct val="0"/>
              </a:spcBef>
            </a:pPr>
            <a:endParaRPr lang="en-US" sz="3497" dirty="0">
              <a:solidFill>
                <a:srgbClr val="716B5C"/>
              </a:solidFill>
              <a:latin typeface="EFCO Brookshire"/>
              <a:ea typeface="EFCO Brookshire"/>
              <a:cs typeface="EFCO Brookshire"/>
              <a:sym typeface="EFCO Brookshir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9600" y="-95250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TextBox 7"/>
          <p:cNvSpPr txBox="1"/>
          <p:nvPr/>
        </p:nvSpPr>
        <p:spPr>
          <a:xfrm>
            <a:off x="3484691" y="-42599"/>
            <a:ext cx="8851340" cy="1425003"/>
          </a:xfrm>
          <a:prstGeom prst="rect">
            <a:avLst/>
          </a:prstGeom>
        </p:spPr>
        <p:txBody>
          <a:bodyPr lIns="0" tIns="0" rIns="0" bIns="0" rtlCol="0" anchor="t">
            <a:spAutoFit/>
          </a:bodyPr>
          <a:lstStyle/>
          <a:p>
            <a:pPr algn="ctr">
              <a:lnSpc>
                <a:spcPts val="11739"/>
              </a:lnSpc>
            </a:pPr>
            <a:r>
              <a:rPr lang="en-US" sz="8385" b="1" dirty="0">
                <a:solidFill>
                  <a:srgbClr val="716B5C"/>
                </a:solidFill>
                <a:latin typeface="EFCO Brookshire"/>
                <a:ea typeface="EFCO Brookshire"/>
                <a:cs typeface="EFCO Brookshire"/>
                <a:sym typeface="EFCO Brookshire"/>
              </a:rPr>
              <a:t>approach</a:t>
            </a:r>
          </a:p>
        </p:txBody>
      </p:sp>
      <p:sp>
        <p:nvSpPr>
          <p:cNvPr id="8" name="TextBox 8"/>
          <p:cNvSpPr txBox="1"/>
          <p:nvPr/>
        </p:nvSpPr>
        <p:spPr>
          <a:xfrm>
            <a:off x="442132" y="1790700"/>
            <a:ext cx="17403737" cy="7588867"/>
          </a:xfrm>
          <a:prstGeom prst="rect">
            <a:avLst/>
          </a:prstGeom>
        </p:spPr>
        <p:txBody>
          <a:bodyPr lIns="0" tIns="0" rIns="0" bIns="0" rtlCol="0" anchor="t">
            <a:spAutoFit/>
          </a:bodyPr>
          <a:lstStyle/>
          <a:p>
            <a:pPr algn="ctr">
              <a:lnSpc>
                <a:spcPts val="4340"/>
              </a:lnSpc>
            </a:pPr>
            <a:r>
              <a:rPr lang="en-US" sz="3100" dirty="0">
                <a:solidFill>
                  <a:srgbClr val="716B5C"/>
                </a:solidFill>
                <a:latin typeface="EFCO Brookshire"/>
                <a:ea typeface="EFCO Brookshire"/>
                <a:cs typeface="EFCO Brookshire"/>
                <a:sym typeface="EFCO Brookshire"/>
              </a:rPr>
              <a:t>The approach for analyzing the impact of car features on price and profitability, </a:t>
            </a:r>
          </a:p>
          <a:p>
            <a:pPr algn="ctr">
              <a:lnSpc>
                <a:spcPts val="4340"/>
              </a:lnSpc>
            </a:pPr>
            <a:r>
              <a:rPr lang="en-US" sz="3100" dirty="0">
                <a:solidFill>
                  <a:srgbClr val="716B5C"/>
                </a:solidFill>
                <a:latin typeface="EFCO Brookshire"/>
                <a:ea typeface="EFCO Brookshire"/>
                <a:cs typeface="EFCO Brookshire"/>
                <a:sym typeface="EFCO Brookshire"/>
              </a:rPr>
              <a:t> incorporated multiple steps, tools, and methods. This structured approach will allow us to derive insights from  the given data Ensuring data quality by removing inconsistencies, handling missing values, and standardizing data formats whether it could be Computing basic summary statistics (mean, median, standard deviation)</a:t>
            </a:r>
          </a:p>
          <a:p>
            <a:pPr algn="ctr">
              <a:lnSpc>
                <a:spcPts val="4340"/>
              </a:lnSpc>
            </a:pPr>
            <a:r>
              <a:rPr lang="en-US" sz="3100" dirty="0">
                <a:solidFill>
                  <a:srgbClr val="716B5C"/>
                </a:solidFill>
                <a:latin typeface="EFCO Brookshire"/>
                <a:ea typeface="EFCO Brookshire"/>
                <a:cs typeface="EFCO Brookshire"/>
                <a:sym typeface="EFCO Brookshire"/>
              </a:rPr>
              <a:t> Using charts, scatter plots, and histograms to visualize the relationships between different features (e.g., engine type, transmission type , fuel efficiency, car brands) and car prices. </a:t>
            </a:r>
          </a:p>
          <a:p>
            <a:pPr algn="ctr">
              <a:lnSpc>
                <a:spcPts val="4340"/>
              </a:lnSpc>
            </a:pPr>
            <a:r>
              <a:rPr lang="en-US" sz="3100" dirty="0">
                <a:solidFill>
                  <a:srgbClr val="716B5C"/>
                </a:solidFill>
                <a:latin typeface="EFCO Brookshire"/>
                <a:ea typeface="EFCO Brookshire"/>
                <a:cs typeface="EFCO Brookshire"/>
                <a:sym typeface="EFCO Brookshire"/>
              </a:rPr>
              <a:t>performed Correlation Analysis  to identify which features have a strong relationship with car prices.</a:t>
            </a:r>
          </a:p>
          <a:p>
            <a:pPr algn="ctr">
              <a:lnSpc>
                <a:spcPts val="4340"/>
              </a:lnSpc>
            </a:pPr>
            <a:r>
              <a:rPr lang="en-US" sz="3100" dirty="0">
                <a:solidFill>
                  <a:srgbClr val="716B5C"/>
                </a:solidFill>
                <a:latin typeface="EFCO Brookshire"/>
                <a:ea typeface="EFCO Brookshire"/>
                <a:cs typeface="EFCO Brookshire"/>
                <a:sym typeface="EFCO Brookshire"/>
              </a:rPr>
              <a:t>Regression Analysis to quantify the impact of various car features on the car’s price. The model will include features as independent variables and car price as the dependent variable. Given tasks based on the business problem so it would require advanced Excel skills and knowledge of data analysis techniques such as regression analysis, pivot tables, and building an interactive dashboard, a data analyst could provide valuable insights to a car manufacturer and help them optimize their pricing and product development decisions to maximize profitability while meeting consumer demand.</a:t>
            </a:r>
          </a:p>
          <a:p>
            <a:pPr algn="ctr">
              <a:lnSpc>
                <a:spcPts val="4340"/>
              </a:lnSpc>
              <a:spcBef>
                <a:spcPct val="0"/>
              </a:spcBef>
            </a:pPr>
            <a:endParaRPr lang="en-US" sz="3100" dirty="0">
              <a:solidFill>
                <a:srgbClr val="716B5C"/>
              </a:solidFill>
              <a:latin typeface="EFCO Brookshire"/>
              <a:ea typeface="EFCO Brookshire"/>
              <a:cs typeface="EFCO Brookshire"/>
              <a:sym typeface="EFCO Brookshir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9600" y="-495300"/>
            <a:ext cx="19211667" cy="12749561"/>
          </a:xfrm>
          <a:custGeom>
            <a:avLst/>
            <a:gdLst/>
            <a:ahLst/>
            <a:cxnLst/>
            <a:rect l="l" t="t" r="r" b="b"/>
            <a:pathLst>
              <a:path w="19211667" h="12749561">
                <a:moveTo>
                  <a:pt x="0" y="0"/>
                </a:moveTo>
                <a:lnTo>
                  <a:pt x="19211666" y="0"/>
                </a:lnTo>
                <a:lnTo>
                  <a:pt x="19211666" y="12749561"/>
                </a:lnTo>
                <a:lnTo>
                  <a:pt x="0" y="127495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TextBox 7"/>
          <p:cNvSpPr txBox="1"/>
          <p:nvPr/>
        </p:nvSpPr>
        <p:spPr>
          <a:xfrm>
            <a:off x="708552" y="2647576"/>
            <a:ext cx="16831566" cy="7327886"/>
          </a:xfrm>
          <a:prstGeom prst="rect">
            <a:avLst/>
          </a:prstGeom>
        </p:spPr>
        <p:txBody>
          <a:bodyPr lIns="0" tIns="0" rIns="0" bIns="0" rtlCol="0" anchor="t">
            <a:spAutoFit/>
          </a:bodyPr>
          <a:lstStyle/>
          <a:p>
            <a:pPr algn="ctr">
              <a:lnSpc>
                <a:spcPts val="5880"/>
              </a:lnSpc>
            </a:pPr>
            <a:r>
              <a:rPr lang="en-US" sz="4200" b="1" dirty="0">
                <a:solidFill>
                  <a:srgbClr val="000000"/>
                </a:solidFill>
                <a:latin typeface="EFCO Brookshire"/>
                <a:ea typeface="EFCO Brookshire"/>
                <a:cs typeface="EFCO Brookshire"/>
                <a:sym typeface="EFCO Brookshire"/>
              </a:rPr>
              <a:t>Microsoft Excel</a:t>
            </a:r>
            <a:r>
              <a:rPr lang="en-US" sz="4200" dirty="0">
                <a:solidFill>
                  <a:srgbClr val="000000"/>
                </a:solidFill>
                <a:latin typeface="EFCO Brookshire"/>
                <a:ea typeface="EFCO Brookshire"/>
                <a:cs typeface="EFCO Brookshire"/>
                <a:sym typeface="EFCO Brookshire"/>
              </a:rPr>
              <a:t>: For Data cleaning process, various Data analytical tools &amp; skills to provide valuable insights </a:t>
            </a:r>
          </a:p>
          <a:p>
            <a:pPr algn="ctr">
              <a:lnSpc>
                <a:spcPts val="5880"/>
              </a:lnSpc>
            </a:pPr>
            <a:r>
              <a:rPr lang="en-US" sz="4200" b="1" dirty="0">
                <a:solidFill>
                  <a:srgbClr val="000000"/>
                </a:solidFill>
                <a:latin typeface="EFCO Brookshire"/>
                <a:ea typeface="EFCO Brookshire"/>
                <a:cs typeface="EFCO Brookshire"/>
                <a:sym typeface="EFCO Brookshire"/>
              </a:rPr>
              <a:t>Microsoft Word</a:t>
            </a:r>
            <a:r>
              <a:rPr lang="en-US" sz="4200" dirty="0">
                <a:solidFill>
                  <a:srgbClr val="000000"/>
                </a:solidFill>
                <a:latin typeface="EFCO Brookshire"/>
                <a:ea typeface="EFCO Brookshire"/>
                <a:cs typeface="EFCO Brookshire"/>
                <a:sym typeface="EFCO Brookshire"/>
              </a:rPr>
              <a:t>: To Document everything what I’ve done during the process and how I gained so many insights dealt with advanced excel skills either it could be detecting a problem , having variety approaches , choosing what best works for a particular task , extracting and providing relative information required </a:t>
            </a:r>
          </a:p>
          <a:p>
            <a:pPr algn="ctr">
              <a:lnSpc>
                <a:spcPts val="5880"/>
              </a:lnSpc>
            </a:pPr>
            <a:r>
              <a:rPr lang="en-US" sz="4200" b="1" dirty="0">
                <a:solidFill>
                  <a:srgbClr val="000000"/>
                </a:solidFill>
                <a:latin typeface="EFCO Brookshire"/>
                <a:ea typeface="EFCO Brookshire"/>
                <a:cs typeface="EFCO Brookshire"/>
                <a:sym typeface="EFCO Brookshire"/>
              </a:rPr>
              <a:t>Canva:</a:t>
            </a:r>
            <a:r>
              <a:rPr lang="en-US" sz="4200" dirty="0">
                <a:solidFill>
                  <a:srgbClr val="000000"/>
                </a:solidFill>
                <a:latin typeface="EFCO Brookshire"/>
                <a:ea typeface="EFCO Brookshire"/>
                <a:cs typeface="EFCO Brookshire"/>
                <a:sym typeface="EFCO Brookshire"/>
              </a:rPr>
              <a:t> To present, project presentations serves as an essential communication tool that helps present complex information in an understandable way </a:t>
            </a:r>
          </a:p>
          <a:p>
            <a:pPr algn="ctr">
              <a:lnSpc>
                <a:spcPts val="11620"/>
              </a:lnSpc>
              <a:spcBef>
                <a:spcPct val="0"/>
              </a:spcBef>
            </a:pPr>
            <a:endParaRPr lang="en-US" sz="4200" dirty="0">
              <a:solidFill>
                <a:srgbClr val="000000"/>
              </a:solidFill>
              <a:latin typeface="EFCO Brookshire"/>
              <a:ea typeface="EFCO Brookshire"/>
              <a:cs typeface="EFCO Brookshire"/>
              <a:sym typeface="EFCO Brookshire"/>
            </a:endParaRPr>
          </a:p>
        </p:txBody>
      </p:sp>
      <p:sp>
        <p:nvSpPr>
          <p:cNvPr id="8" name="TextBox 8"/>
          <p:cNvSpPr txBox="1"/>
          <p:nvPr/>
        </p:nvSpPr>
        <p:spPr>
          <a:xfrm>
            <a:off x="4876560" y="251783"/>
            <a:ext cx="9016279" cy="1407245"/>
          </a:xfrm>
          <a:prstGeom prst="rect">
            <a:avLst/>
          </a:prstGeom>
        </p:spPr>
        <p:txBody>
          <a:bodyPr wrap="square" lIns="0" tIns="0" rIns="0" bIns="0" rtlCol="0" anchor="t">
            <a:spAutoFit/>
          </a:bodyPr>
          <a:lstStyle/>
          <a:p>
            <a:pPr algn="ctr">
              <a:lnSpc>
                <a:spcPts val="11480"/>
              </a:lnSpc>
              <a:spcBef>
                <a:spcPct val="0"/>
              </a:spcBef>
            </a:pPr>
            <a:r>
              <a:rPr lang="en-US" sz="8200" dirty="0">
                <a:solidFill>
                  <a:srgbClr val="000000"/>
                </a:solidFill>
                <a:latin typeface="EFCO Brookshire"/>
                <a:ea typeface="EFCO Brookshire"/>
                <a:cs typeface="EFCO Brookshire"/>
                <a:sym typeface="EFCO Brookshire"/>
              </a:rPr>
              <a:t>Tech Stack Used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76061" y="-90185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1" y="-192444"/>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872212" y="2427085"/>
            <a:ext cx="4769823" cy="6091693"/>
          </a:xfrm>
          <a:custGeom>
            <a:avLst/>
            <a:gdLst/>
            <a:ahLst/>
            <a:cxnLst/>
            <a:rect l="l" t="t" r="r" b="b"/>
            <a:pathLst>
              <a:path w="4769823" h="6091693">
                <a:moveTo>
                  <a:pt x="0" y="0"/>
                </a:moveTo>
                <a:lnTo>
                  <a:pt x="4769824" y="0"/>
                </a:lnTo>
                <a:lnTo>
                  <a:pt x="4769824" y="6091693"/>
                </a:lnTo>
                <a:lnTo>
                  <a:pt x="0" y="6091693"/>
                </a:lnTo>
                <a:lnTo>
                  <a:pt x="0" y="0"/>
                </a:lnTo>
                <a:close/>
              </a:path>
            </a:pathLst>
          </a:custGeom>
          <a:blipFill>
            <a:blip r:embed="rId5"/>
            <a:stretch>
              <a:fillRect/>
            </a:stretch>
          </a:blipFill>
        </p:spPr>
      </p:sp>
      <p:sp>
        <p:nvSpPr>
          <p:cNvPr id="8" name="Freeform 8"/>
          <p:cNvSpPr/>
          <p:nvPr/>
        </p:nvSpPr>
        <p:spPr>
          <a:xfrm>
            <a:off x="5958041" y="2329769"/>
            <a:ext cx="11301259" cy="6286325"/>
          </a:xfrm>
          <a:custGeom>
            <a:avLst/>
            <a:gdLst/>
            <a:ahLst/>
            <a:cxnLst/>
            <a:rect l="l" t="t" r="r" b="b"/>
            <a:pathLst>
              <a:path w="11301259" h="6286325">
                <a:moveTo>
                  <a:pt x="0" y="0"/>
                </a:moveTo>
                <a:lnTo>
                  <a:pt x="11301259" y="0"/>
                </a:lnTo>
                <a:lnTo>
                  <a:pt x="11301259" y="6286325"/>
                </a:lnTo>
                <a:lnTo>
                  <a:pt x="0" y="6286325"/>
                </a:lnTo>
                <a:lnTo>
                  <a:pt x="0" y="0"/>
                </a:lnTo>
                <a:close/>
              </a:path>
            </a:pathLst>
          </a:custGeom>
          <a:blipFill>
            <a:blip r:embed="rId6"/>
            <a:stretch>
              <a:fillRect/>
            </a:stretch>
          </a:blipFill>
        </p:spPr>
      </p:sp>
      <p:sp>
        <p:nvSpPr>
          <p:cNvPr id="9" name="TextBox 9"/>
          <p:cNvSpPr txBox="1"/>
          <p:nvPr/>
        </p:nvSpPr>
        <p:spPr>
          <a:xfrm>
            <a:off x="3657600" y="-815208"/>
            <a:ext cx="9550091" cy="1640321"/>
          </a:xfrm>
          <a:prstGeom prst="rect">
            <a:avLst/>
          </a:prstGeom>
        </p:spPr>
        <p:txBody>
          <a:bodyPr lIns="0" tIns="0" rIns="0" bIns="0" rtlCol="0" anchor="t">
            <a:spAutoFit/>
          </a:bodyPr>
          <a:lstStyle/>
          <a:p>
            <a:pPr algn="ctr">
              <a:lnSpc>
                <a:spcPts val="13999"/>
              </a:lnSpc>
            </a:pPr>
            <a:r>
              <a:rPr lang="en-US" sz="7200" b="1" dirty="0">
                <a:solidFill>
                  <a:srgbClr val="716B5C"/>
                </a:solidFill>
                <a:latin typeface="EFCO Brookshire"/>
                <a:ea typeface="EFCO Brookshire"/>
                <a:cs typeface="EFCO Brookshire"/>
                <a:sym typeface="EFCO Brookshire"/>
              </a:rPr>
              <a:t>Analysis</a:t>
            </a:r>
          </a:p>
        </p:txBody>
      </p:sp>
      <p:sp>
        <p:nvSpPr>
          <p:cNvPr id="10" name="TextBox 10"/>
          <p:cNvSpPr txBox="1"/>
          <p:nvPr/>
        </p:nvSpPr>
        <p:spPr>
          <a:xfrm>
            <a:off x="1066800" y="823353"/>
            <a:ext cx="15937826" cy="1436291"/>
          </a:xfrm>
          <a:prstGeom prst="rect">
            <a:avLst/>
          </a:prstGeom>
        </p:spPr>
        <p:txBody>
          <a:bodyPr lIns="0" tIns="0" rIns="0" bIns="0" rtlCol="0" anchor="t">
            <a:spAutoFit/>
          </a:bodyPr>
          <a:lstStyle/>
          <a:p>
            <a:pPr algn="ctr">
              <a:lnSpc>
                <a:spcPts val="5600"/>
              </a:lnSpc>
              <a:spcBef>
                <a:spcPct val="0"/>
              </a:spcBef>
            </a:pPr>
            <a:r>
              <a:rPr lang="en-US" sz="4800" b="1" dirty="0">
                <a:solidFill>
                  <a:srgbClr val="716B5C"/>
                </a:solidFill>
                <a:latin typeface="EFCO Brookshire"/>
                <a:ea typeface="EFCO Brookshire"/>
                <a:cs typeface="EFCO Brookshire"/>
                <a:sym typeface="EFCO Brookshire"/>
              </a:rPr>
              <a:t>How does the popularity of a car model vary across different market categories</a:t>
            </a:r>
            <a:r>
              <a:rPr lang="en-US" sz="4000" dirty="0">
                <a:solidFill>
                  <a:srgbClr val="716B5C"/>
                </a:solidFill>
                <a:latin typeface="EFCO Brookshire"/>
                <a:ea typeface="EFCO Brookshire"/>
                <a:cs typeface="EFCO Brookshire"/>
                <a:sym typeface="EFCO Brookshire"/>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33" y="-123128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3903668" y="2218811"/>
            <a:ext cx="10255796" cy="7302205"/>
          </a:xfrm>
          <a:custGeom>
            <a:avLst/>
            <a:gdLst/>
            <a:ahLst/>
            <a:cxnLst/>
            <a:rect l="l" t="t" r="r" b="b"/>
            <a:pathLst>
              <a:path w="10255796" h="7302205">
                <a:moveTo>
                  <a:pt x="0" y="0"/>
                </a:moveTo>
                <a:lnTo>
                  <a:pt x="10255796" y="0"/>
                </a:lnTo>
                <a:lnTo>
                  <a:pt x="10255796" y="7302205"/>
                </a:lnTo>
                <a:lnTo>
                  <a:pt x="0" y="7302205"/>
                </a:lnTo>
                <a:lnTo>
                  <a:pt x="0" y="0"/>
                </a:lnTo>
                <a:close/>
              </a:path>
            </a:pathLst>
          </a:custGeom>
          <a:blipFill>
            <a:blip r:embed="rId5"/>
            <a:stretch>
              <a:fillRect l="-409" r="-409" b="-1950"/>
            </a:stretch>
          </a:blipFill>
        </p:spPr>
      </p:sp>
      <p:sp>
        <p:nvSpPr>
          <p:cNvPr id="8" name="TextBox 8"/>
          <p:cNvSpPr txBox="1"/>
          <p:nvPr/>
        </p:nvSpPr>
        <p:spPr>
          <a:xfrm>
            <a:off x="1981200" y="320141"/>
            <a:ext cx="14678856" cy="2652265"/>
          </a:xfrm>
          <a:prstGeom prst="rect">
            <a:avLst/>
          </a:prstGeom>
        </p:spPr>
        <p:txBody>
          <a:bodyPr lIns="0" tIns="0" rIns="0" bIns="0" rtlCol="0" anchor="t">
            <a:spAutoFit/>
          </a:bodyPr>
          <a:lstStyle/>
          <a:p>
            <a:pPr algn="ctr">
              <a:lnSpc>
                <a:spcPts val="7000"/>
              </a:lnSpc>
            </a:pPr>
            <a:r>
              <a:rPr lang="en-US" sz="5000" dirty="0">
                <a:solidFill>
                  <a:srgbClr val="000000"/>
                </a:solidFill>
                <a:latin typeface="EFCO Brookshire"/>
                <a:ea typeface="EFCO Brookshire"/>
                <a:cs typeface="EFCO Brookshire"/>
                <a:sym typeface="EFCO Brookshire"/>
              </a:rPr>
              <a:t> </a:t>
            </a:r>
            <a:r>
              <a:rPr lang="en-US" sz="5000" b="1" dirty="0">
                <a:solidFill>
                  <a:srgbClr val="000000"/>
                </a:solidFill>
                <a:latin typeface="EFCO Brookshire"/>
                <a:ea typeface="EFCO Brookshire"/>
                <a:cs typeface="EFCO Brookshire"/>
                <a:sym typeface="EFCO Brookshire"/>
              </a:rPr>
              <a:t>What is the relationship between a car's engine power and its price?</a:t>
            </a:r>
          </a:p>
          <a:p>
            <a:pPr algn="ctr">
              <a:lnSpc>
                <a:spcPts val="7000"/>
              </a:lnSpc>
              <a:spcBef>
                <a:spcPct val="0"/>
              </a:spcBef>
            </a:pPr>
            <a:endParaRPr lang="en-US" sz="5000" dirty="0">
              <a:solidFill>
                <a:srgbClr val="000000"/>
              </a:solidFill>
              <a:latin typeface="EFCO Brookshire"/>
              <a:ea typeface="EFCO Brookshire"/>
              <a:cs typeface="EFCO Brookshire"/>
              <a:sym typeface="EFCO Brookshir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33" y="-123128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4343400" y="2705100"/>
            <a:ext cx="8912278" cy="6918156"/>
          </a:xfrm>
          <a:custGeom>
            <a:avLst/>
            <a:gdLst/>
            <a:ahLst/>
            <a:cxnLst/>
            <a:rect l="l" t="t" r="r" b="b"/>
            <a:pathLst>
              <a:path w="8912278" h="6918156">
                <a:moveTo>
                  <a:pt x="0" y="0"/>
                </a:moveTo>
                <a:lnTo>
                  <a:pt x="8912278" y="0"/>
                </a:lnTo>
                <a:lnTo>
                  <a:pt x="8912278" y="6918155"/>
                </a:lnTo>
                <a:lnTo>
                  <a:pt x="0" y="6918155"/>
                </a:lnTo>
                <a:lnTo>
                  <a:pt x="0" y="0"/>
                </a:lnTo>
                <a:close/>
              </a:path>
            </a:pathLst>
          </a:custGeom>
          <a:blipFill>
            <a:blip r:embed="rId5"/>
            <a:stretch>
              <a:fillRect/>
            </a:stretch>
          </a:blipFill>
        </p:spPr>
      </p:sp>
      <p:sp>
        <p:nvSpPr>
          <p:cNvPr id="8" name="TextBox 8"/>
          <p:cNvSpPr txBox="1"/>
          <p:nvPr/>
        </p:nvSpPr>
        <p:spPr>
          <a:xfrm>
            <a:off x="2084245" y="495300"/>
            <a:ext cx="14382317" cy="1739883"/>
          </a:xfrm>
          <a:prstGeom prst="rect">
            <a:avLst/>
          </a:prstGeom>
        </p:spPr>
        <p:txBody>
          <a:bodyPr lIns="0" tIns="0" rIns="0" bIns="0" rtlCol="0" anchor="t">
            <a:spAutoFit/>
          </a:bodyPr>
          <a:lstStyle/>
          <a:p>
            <a:pPr algn="ctr">
              <a:lnSpc>
                <a:spcPts val="7000"/>
              </a:lnSpc>
              <a:spcBef>
                <a:spcPct val="0"/>
              </a:spcBef>
            </a:pPr>
            <a:r>
              <a:rPr lang="en-US" sz="5000" dirty="0">
                <a:solidFill>
                  <a:srgbClr val="000000"/>
                </a:solidFill>
                <a:latin typeface="EFCO Brookshire"/>
                <a:ea typeface="EFCO Brookshire"/>
                <a:cs typeface="EFCO Brookshire"/>
                <a:sym typeface="EFCO Brookshire"/>
              </a:rPr>
              <a:t>Which car features are most important in determining a car's price?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33" y="-123128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2700496" y="2204113"/>
            <a:ext cx="3391613" cy="6732731"/>
          </a:xfrm>
          <a:custGeom>
            <a:avLst/>
            <a:gdLst/>
            <a:ahLst/>
            <a:cxnLst/>
            <a:rect l="l" t="t" r="r" b="b"/>
            <a:pathLst>
              <a:path w="3391613" h="6732731">
                <a:moveTo>
                  <a:pt x="0" y="0"/>
                </a:moveTo>
                <a:lnTo>
                  <a:pt x="3391613" y="0"/>
                </a:lnTo>
                <a:lnTo>
                  <a:pt x="3391613" y="6732731"/>
                </a:lnTo>
                <a:lnTo>
                  <a:pt x="0" y="6732731"/>
                </a:lnTo>
                <a:lnTo>
                  <a:pt x="0" y="0"/>
                </a:lnTo>
                <a:close/>
              </a:path>
            </a:pathLst>
          </a:custGeom>
          <a:blipFill>
            <a:blip r:embed="rId5"/>
            <a:stretch>
              <a:fillRect/>
            </a:stretch>
          </a:blipFill>
        </p:spPr>
      </p:sp>
      <p:sp>
        <p:nvSpPr>
          <p:cNvPr id="8" name="Freeform 8"/>
          <p:cNvSpPr/>
          <p:nvPr/>
        </p:nvSpPr>
        <p:spPr>
          <a:xfrm>
            <a:off x="7063040" y="2742274"/>
            <a:ext cx="9403522" cy="6194570"/>
          </a:xfrm>
          <a:custGeom>
            <a:avLst/>
            <a:gdLst/>
            <a:ahLst/>
            <a:cxnLst/>
            <a:rect l="l" t="t" r="r" b="b"/>
            <a:pathLst>
              <a:path w="9403522" h="6194570">
                <a:moveTo>
                  <a:pt x="0" y="0"/>
                </a:moveTo>
                <a:lnTo>
                  <a:pt x="9403522" y="0"/>
                </a:lnTo>
                <a:lnTo>
                  <a:pt x="9403522" y="6194571"/>
                </a:lnTo>
                <a:lnTo>
                  <a:pt x="0" y="6194571"/>
                </a:lnTo>
                <a:lnTo>
                  <a:pt x="0" y="0"/>
                </a:lnTo>
                <a:close/>
              </a:path>
            </a:pathLst>
          </a:custGeom>
          <a:blipFill>
            <a:blip r:embed="rId6"/>
            <a:stretch>
              <a:fillRect/>
            </a:stretch>
          </a:blipFill>
        </p:spPr>
      </p:sp>
      <p:sp>
        <p:nvSpPr>
          <p:cNvPr id="9" name="TextBox 9"/>
          <p:cNvSpPr txBox="1"/>
          <p:nvPr/>
        </p:nvSpPr>
        <p:spPr>
          <a:xfrm>
            <a:off x="228600" y="454266"/>
            <a:ext cx="18288000" cy="3085450"/>
          </a:xfrm>
          <a:prstGeom prst="rect">
            <a:avLst/>
          </a:prstGeom>
        </p:spPr>
        <p:txBody>
          <a:bodyPr lIns="0" tIns="0" rIns="0" bIns="0" rtlCol="0" anchor="t">
            <a:spAutoFit/>
          </a:bodyPr>
          <a:lstStyle/>
          <a:p>
            <a:pPr algn="ctr">
              <a:lnSpc>
                <a:spcPts val="7000"/>
              </a:lnSpc>
            </a:pPr>
            <a:r>
              <a:rPr lang="en-US" sz="5000" dirty="0">
                <a:solidFill>
                  <a:srgbClr val="000000"/>
                </a:solidFill>
                <a:latin typeface="EFCO Brookshire"/>
                <a:ea typeface="EFCO Brookshire"/>
                <a:cs typeface="EFCO Brookshire"/>
                <a:sym typeface="EFCO Brookshire"/>
              </a:rPr>
              <a:t> How does the average price of a car vary across different manufacturers?</a:t>
            </a:r>
          </a:p>
          <a:p>
            <a:pPr algn="ctr">
              <a:lnSpc>
                <a:spcPts val="10920"/>
              </a:lnSpc>
              <a:spcBef>
                <a:spcPct val="0"/>
              </a:spcBef>
            </a:pPr>
            <a:endParaRPr lang="en-US" sz="5000" dirty="0">
              <a:solidFill>
                <a:srgbClr val="000000"/>
              </a:solidFill>
              <a:latin typeface="EFCO Brookshire"/>
              <a:ea typeface="EFCO Brookshire"/>
              <a:cs typeface="EFCO Brookshire"/>
              <a:sym typeface="EFCO Brookshir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61378" y="-119577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2893827" y="3052962"/>
            <a:ext cx="11301259" cy="4252099"/>
          </a:xfrm>
          <a:custGeom>
            <a:avLst/>
            <a:gdLst/>
            <a:ahLst/>
            <a:cxnLst/>
            <a:rect l="l" t="t" r="r" b="b"/>
            <a:pathLst>
              <a:path w="11301259" h="4252099">
                <a:moveTo>
                  <a:pt x="0" y="0"/>
                </a:moveTo>
                <a:lnTo>
                  <a:pt x="11301259" y="0"/>
                </a:lnTo>
                <a:lnTo>
                  <a:pt x="11301259" y="4252098"/>
                </a:lnTo>
                <a:lnTo>
                  <a:pt x="0" y="4252098"/>
                </a:lnTo>
                <a:lnTo>
                  <a:pt x="0" y="0"/>
                </a:lnTo>
                <a:close/>
              </a:path>
            </a:pathLst>
          </a:custGeom>
          <a:blipFill>
            <a:blip r:embed="rId5"/>
            <a:stretch>
              <a:fillRect/>
            </a:stretch>
          </a:blipFill>
        </p:spPr>
      </p:sp>
      <p:sp>
        <p:nvSpPr>
          <p:cNvPr id="8" name="Freeform 8"/>
          <p:cNvSpPr/>
          <p:nvPr/>
        </p:nvSpPr>
        <p:spPr>
          <a:xfrm>
            <a:off x="5562600" y="7998660"/>
            <a:ext cx="4972560" cy="1402038"/>
          </a:xfrm>
          <a:custGeom>
            <a:avLst/>
            <a:gdLst/>
            <a:ahLst/>
            <a:cxnLst/>
            <a:rect l="l" t="t" r="r" b="b"/>
            <a:pathLst>
              <a:path w="4972560" h="1402038">
                <a:moveTo>
                  <a:pt x="0" y="0"/>
                </a:moveTo>
                <a:lnTo>
                  <a:pt x="4972560" y="0"/>
                </a:lnTo>
                <a:lnTo>
                  <a:pt x="4972560" y="1402038"/>
                </a:lnTo>
                <a:lnTo>
                  <a:pt x="0" y="1402038"/>
                </a:lnTo>
                <a:lnTo>
                  <a:pt x="0" y="0"/>
                </a:lnTo>
                <a:close/>
              </a:path>
            </a:pathLst>
          </a:custGeom>
          <a:blipFill>
            <a:blip r:embed="rId6"/>
            <a:stretch>
              <a:fillRect/>
            </a:stretch>
          </a:blipFill>
        </p:spPr>
      </p:sp>
      <p:sp>
        <p:nvSpPr>
          <p:cNvPr id="9" name="TextBox 9"/>
          <p:cNvSpPr txBox="1"/>
          <p:nvPr/>
        </p:nvSpPr>
        <p:spPr>
          <a:xfrm>
            <a:off x="1447800" y="593670"/>
            <a:ext cx="15148836" cy="1739883"/>
          </a:xfrm>
          <a:prstGeom prst="rect">
            <a:avLst/>
          </a:prstGeom>
        </p:spPr>
        <p:txBody>
          <a:bodyPr lIns="0" tIns="0" rIns="0" bIns="0" rtlCol="0" anchor="t">
            <a:spAutoFit/>
          </a:bodyPr>
          <a:lstStyle/>
          <a:p>
            <a:pPr algn="ctr">
              <a:lnSpc>
                <a:spcPts val="7000"/>
              </a:lnSpc>
              <a:spcBef>
                <a:spcPct val="0"/>
              </a:spcBef>
            </a:pPr>
            <a:r>
              <a:rPr lang="en-US" sz="5000" dirty="0">
                <a:solidFill>
                  <a:srgbClr val="000000"/>
                </a:solidFill>
                <a:latin typeface="EFCO Brookshire"/>
                <a:ea typeface="EFCO Brookshire"/>
                <a:cs typeface="EFCO Brookshire"/>
                <a:sym typeface="EFCO Brookshire"/>
              </a:rPr>
              <a:t>What is the relationship between fuel efficiency and the number of cylinders in a car's engine?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33" y="-123128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954839" y="3819934"/>
            <a:ext cx="16402902" cy="4797849"/>
          </a:xfrm>
          <a:custGeom>
            <a:avLst/>
            <a:gdLst/>
            <a:ahLst/>
            <a:cxnLst/>
            <a:rect l="l" t="t" r="r" b="b"/>
            <a:pathLst>
              <a:path w="16402902" h="4797849">
                <a:moveTo>
                  <a:pt x="0" y="0"/>
                </a:moveTo>
                <a:lnTo>
                  <a:pt x="16402902" y="0"/>
                </a:lnTo>
                <a:lnTo>
                  <a:pt x="16402902" y="4797849"/>
                </a:lnTo>
                <a:lnTo>
                  <a:pt x="0" y="4797849"/>
                </a:lnTo>
                <a:lnTo>
                  <a:pt x="0" y="0"/>
                </a:lnTo>
                <a:close/>
              </a:path>
            </a:pathLst>
          </a:custGeom>
          <a:blipFill>
            <a:blip r:embed="rId5"/>
            <a:stretch>
              <a:fillRect/>
            </a:stretch>
          </a:blipFill>
        </p:spPr>
      </p:sp>
      <p:sp>
        <p:nvSpPr>
          <p:cNvPr id="8" name="TextBox 8"/>
          <p:cNvSpPr txBox="1"/>
          <p:nvPr/>
        </p:nvSpPr>
        <p:spPr>
          <a:xfrm>
            <a:off x="4648200" y="3687"/>
            <a:ext cx="8066592" cy="1754583"/>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EFCO Brookshire"/>
                <a:ea typeface="EFCO Brookshire"/>
                <a:cs typeface="EFCO Brookshire"/>
                <a:sym typeface="EFCO Brookshire"/>
              </a:rPr>
              <a:t>Building the Dashboard:</a:t>
            </a:r>
          </a:p>
          <a:p>
            <a:pPr algn="ctr">
              <a:lnSpc>
                <a:spcPts val="7000"/>
              </a:lnSpc>
              <a:spcBef>
                <a:spcPct val="0"/>
              </a:spcBef>
            </a:pPr>
            <a:endParaRPr lang="en-US" sz="5000" dirty="0">
              <a:solidFill>
                <a:srgbClr val="000000"/>
              </a:solidFill>
              <a:latin typeface="EFCO Brookshire"/>
              <a:ea typeface="EFCO Brookshire"/>
              <a:cs typeface="EFCO Brookshire"/>
              <a:sym typeface="EFCO Brookshire"/>
            </a:endParaRPr>
          </a:p>
        </p:txBody>
      </p:sp>
      <p:sp>
        <p:nvSpPr>
          <p:cNvPr id="9" name="TextBox 9"/>
          <p:cNvSpPr txBox="1"/>
          <p:nvPr/>
        </p:nvSpPr>
        <p:spPr>
          <a:xfrm>
            <a:off x="1524000" y="1252397"/>
            <a:ext cx="15549367" cy="2625708"/>
          </a:xfrm>
          <a:prstGeom prst="rect">
            <a:avLst/>
          </a:prstGeom>
        </p:spPr>
        <p:txBody>
          <a:bodyPr lIns="0" tIns="0" rIns="0" bIns="0" rtlCol="0" anchor="t">
            <a:spAutoFit/>
          </a:bodyPr>
          <a:lstStyle/>
          <a:p>
            <a:pPr algn="ctr">
              <a:lnSpc>
                <a:spcPts val="7000"/>
              </a:lnSpc>
            </a:pPr>
            <a:r>
              <a:rPr lang="en-US" sz="5000" dirty="0">
                <a:solidFill>
                  <a:srgbClr val="000000"/>
                </a:solidFill>
                <a:latin typeface="EFCO Brookshire"/>
                <a:ea typeface="EFCO Brookshire"/>
                <a:cs typeface="EFCO Brookshire"/>
                <a:sym typeface="EFCO Brookshire"/>
              </a:rPr>
              <a:t>How does the distribution of car prices vary by brand and body style?</a:t>
            </a:r>
          </a:p>
          <a:p>
            <a:pPr algn="ctr">
              <a:lnSpc>
                <a:spcPts val="7000"/>
              </a:lnSpc>
              <a:spcBef>
                <a:spcPct val="0"/>
              </a:spcBef>
            </a:pPr>
            <a:endParaRPr lang="en-US" sz="5000" dirty="0">
              <a:solidFill>
                <a:srgbClr val="000000"/>
              </a:solidFill>
              <a:latin typeface="EFCO Brookshire"/>
              <a:ea typeface="EFCO Brookshire"/>
              <a:cs typeface="EFCO Brookshire"/>
              <a:sym typeface="EFCO Brookshir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33" y="-123128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954642" y="3508397"/>
            <a:ext cx="16378717" cy="5466397"/>
          </a:xfrm>
          <a:custGeom>
            <a:avLst/>
            <a:gdLst/>
            <a:ahLst/>
            <a:cxnLst/>
            <a:rect l="l" t="t" r="r" b="b"/>
            <a:pathLst>
              <a:path w="16378717" h="5466397">
                <a:moveTo>
                  <a:pt x="0" y="0"/>
                </a:moveTo>
                <a:lnTo>
                  <a:pt x="16378717" y="0"/>
                </a:lnTo>
                <a:lnTo>
                  <a:pt x="16378717" y="5466397"/>
                </a:lnTo>
                <a:lnTo>
                  <a:pt x="0" y="5466397"/>
                </a:lnTo>
                <a:lnTo>
                  <a:pt x="0" y="0"/>
                </a:lnTo>
                <a:close/>
              </a:path>
            </a:pathLst>
          </a:custGeom>
          <a:blipFill>
            <a:blip r:embed="rId5"/>
            <a:stretch>
              <a:fillRect/>
            </a:stretch>
          </a:blipFill>
        </p:spPr>
      </p:sp>
      <p:sp>
        <p:nvSpPr>
          <p:cNvPr id="8" name="TextBox 8"/>
          <p:cNvSpPr txBox="1"/>
          <p:nvPr/>
        </p:nvSpPr>
        <p:spPr>
          <a:xfrm>
            <a:off x="964474" y="1291312"/>
            <a:ext cx="16378717" cy="1739883"/>
          </a:xfrm>
          <a:prstGeom prst="rect">
            <a:avLst/>
          </a:prstGeom>
        </p:spPr>
        <p:txBody>
          <a:bodyPr lIns="0" tIns="0" rIns="0" bIns="0" rtlCol="0" anchor="t">
            <a:spAutoFit/>
          </a:bodyPr>
          <a:lstStyle/>
          <a:p>
            <a:pPr algn="ctr">
              <a:lnSpc>
                <a:spcPts val="7000"/>
              </a:lnSpc>
              <a:spcBef>
                <a:spcPct val="0"/>
              </a:spcBef>
            </a:pPr>
            <a:r>
              <a:rPr lang="en-US" sz="5000" dirty="0">
                <a:solidFill>
                  <a:srgbClr val="000000"/>
                </a:solidFill>
                <a:latin typeface="EFCO Brookshire"/>
                <a:ea typeface="EFCO Brookshire"/>
                <a:cs typeface="EFCO Brookshire"/>
                <a:sym typeface="EFCO Brookshire"/>
              </a:rPr>
              <a:t>Which car brands have the highest and lowest average MSRPs, and how does this vary by body style?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33" y="-123128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alphaModFix amt="95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710886" y="2874393"/>
            <a:ext cx="8758248" cy="5312745"/>
          </a:xfrm>
          <a:custGeom>
            <a:avLst/>
            <a:gdLst/>
            <a:ahLst/>
            <a:cxnLst/>
            <a:rect l="l" t="t" r="r" b="b"/>
            <a:pathLst>
              <a:path w="8758248" h="5312745">
                <a:moveTo>
                  <a:pt x="0" y="0"/>
                </a:moveTo>
                <a:lnTo>
                  <a:pt x="8758248" y="0"/>
                </a:lnTo>
                <a:lnTo>
                  <a:pt x="8758248" y="5312745"/>
                </a:lnTo>
                <a:lnTo>
                  <a:pt x="0" y="5312745"/>
                </a:lnTo>
                <a:lnTo>
                  <a:pt x="0" y="0"/>
                </a:lnTo>
                <a:close/>
              </a:path>
            </a:pathLst>
          </a:custGeom>
          <a:blipFill>
            <a:blip r:embed="rId5"/>
            <a:stretch>
              <a:fillRect/>
            </a:stretch>
          </a:blipFill>
        </p:spPr>
      </p:sp>
      <p:sp>
        <p:nvSpPr>
          <p:cNvPr id="8" name="Freeform 8"/>
          <p:cNvSpPr/>
          <p:nvPr/>
        </p:nvSpPr>
        <p:spPr>
          <a:xfrm>
            <a:off x="9576874" y="2755081"/>
            <a:ext cx="7954472" cy="5620722"/>
          </a:xfrm>
          <a:custGeom>
            <a:avLst/>
            <a:gdLst/>
            <a:ahLst/>
            <a:cxnLst/>
            <a:rect l="l" t="t" r="r" b="b"/>
            <a:pathLst>
              <a:path w="7954472" h="5620722">
                <a:moveTo>
                  <a:pt x="0" y="0"/>
                </a:moveTo>
                <a:lnTo>
                  <a:pt x="7954472" y="0"/>
                </a:lnTo>
                <a:lnTo>
                  <a:pt x="7954472" y="5620722"/>
                </a:lnTo>
                <a:lnTo>
                  <a:pt x="0" y="5620722"/>
                </a:lnTo>
                <a:lnTo>
                  <a:pt x="0" y="0"/>
                </a:lnTo>
                <a:close/>
              </a:path>
            </a:pathLst>
          </a:custGeom>
          <a:blipFill>
            <a:blip r:embed="rId6"/>
            <a:stretch>
              <a:fillRect/>
            </a:stretch>
          </a:blipFill>
        </p:spPr>
      </p:sp>
      <p:sp>
        <p:nvSpPr>
          <p:cNvPr id="9" name="TextBox 9"/>
          <p:cNvSpPr txBox="1"/>
          <p:nvPr/>
        </p:nvSpPr>
        <p:spPr>
          <a:xfrm>
            <a:off x="1508449" y="420914"/>
            <a:ext cx="14681592" cy="1739883"/>
          </a:xfrm>
          <a:prstGeom prst="rect">
            <a:avLst/>
          </a:prstGeom>
        </p:spPr>
        <p:txBody>
          <a:bodyPr lIns="0" tIns="0" rIns="0" bIns="0" rtlCol="0" anchor="t">
            <a:spAutoFit/>
          </a:bodyPr>
          <a:lstStyle/>
          <a:p>
            <a:pPr algn="ctr">
              <a:lnSpc>
                <a:spcPts val="7000"/>
              </a:lnSpc>
              <a:spcBef>
                <a:spcPct val="0"/>
              </a:spcBef>
            </a:pPr>
            <a:r>
              <a:rPr lang="en-US" sz="5000">
                <a:solidFill>
                  <a:srgbClr val="000000"/>
                </a:solidFill>
                <a:latin typeface="EFCO Brookshire"/>
                <a:ea typeface="EFCO Brookshire"/>
                <a:cs typeface="EFCO Brookshire"/>
                <a:sym typeface="EFCO Brookshire"/>
              </a:rPr>
              <a:t>How do the different feature such as transmission type affect the MSRP, and how does this vary by body style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33" y="-123128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2568469" y="2334212"/>
            <a:ext cx="13898093" cy="6341005"/>
          </a:xfrm>
          <a:custGeom>
            <a:avLst/>
            <a:gdLst/>
            <a:ahLst/>
            <a:cxnLst/>
            <a:rect l="l" t="t" r="r" b="b"/>
            <a:pathLst>
              <a:path w="13898093" h="6341005">
                <a:moveTo>
                  <a:pt x="0" y="0"/>
                </a:moveTo>
                <a:lnTo>
                  <a:pt x="13898093" y="0"/>
                </a:lnTo>
                <a:lnTo>
                  <a:pt x="13898093" y="6341005"/>
                </a:lnTo>
                <a:lnTo>
                  <a:pt x="0" y="6341005"/>
                </a:lnTo>
                <a:lnTo>
                  <a:pt x="0" y="0"/>
                </a:lnTo>
                <a:close/>
              </a:path>
            </a:pathLst>
          </a:custGeom>
          <a:blipFill>
            <a:blip r:embed="rId5"/>
            <a:stretch>
              <a:fillRect/>
            </a:stretch>
          </a:blipFill>
        </p:spPr>
      </p:sp>
      <p:sp>
        <p:nvSpPr>
          <p:cNvPr id="8" name="TextBox 8"/>
          <p:cNvSpPr txBox="1"/>
          <p:nvPr/>
        </p:nvSpPr>
        <p:spPr>
          <a:xfrm>
            <a:off x="1821438" y="549488"/>
            <a:ext cx="14548130" cy="2625708"/>
          </a:xfrm>
          <a:prstGeom prst="rect">
            <a:avLst/>
          </a:prstGeom>
        </p:spPr>
        <p:txBody>
          <a:bodyPr lIns="0" tIns="0" rIns="0" bIns="0" rtlCol="0" anchor="t">
            <a:spAutoFit/>
          </a:bodyPr>
          <a:lstStyle/>
          <a:p>
            <a:pPr algn="ctr">
              <a:lnSpc>
                <a:spcPts val="7000"/>
              </a:lnSpc>
            </a:pPr>
            <a:r>
              <a:rPr lang="en-US" sz="5000">
                <a:solidFill>
                  <a:srgbClr val="30281A"/>
                </a:solidFill>
                <a:latin typeface="EFCO Brookshire"/>
                <a:ea typeface="EFCO Brookshire"/>
                <a:cs typeface="EFCO Brookshire"/>
                <a:sym typeface="EFCO Brookshire"/>
              </a:rPr>
              <a:t>How does the fuel efficiency of cars vary across different body styles and model years? </a:t>
            </a:r>
          </a:p>
          <a:p>
            <a:pPr algn="ctr">
              <a:lnSpc>
                <a:spcPts val="7000"/>
              </a:lnSpc>
              <a:spcBef>
                <a:spcPct val="0"/>
              </a:spcBef>
            </a:pPr>
            <a:endParaRPr lang="en-US" sz="5000">
              <a:solidFill>
                <a:srgbClr val="30281A"/>
              </a:solidFill>
              <a:latin typeface="EFCO Brookshire"/>
              <a:ea typeface="EFCO Brookshire"/>
              <a:cs typeface="EFCO Brookshire"/>
              <a:sym typeface="EFCO Brookshir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33" y="-123128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1755702" y="3105787"/>
            <a:ext cx="14273780" cy="6012830"/>
          </a:xfrm>
          <a:custGeom>
            <a:avLst/>
            <a:gdLst/>
            <a:ahLst/>
            <a:cxnLst/>
            <a:rect l="l" t="t" r="r" b="b"/>
            <a:pathLst>
              <a:path w="14273780" h="6012830">
                <a:moveTo>
                  <a:pt x="0" y="0"/>
                </a:moveTo>
                <a:lnTo>
                  <a:pt x="14273780" y="0"/>
                </a:lnTo>
                <a:lnTo>
                  <a:pt x="14273780" y="6012830"/>
                </a:lnTo>
                <a:lnTo>
                  <a:pt x="0" y="6012830"/>
                </a:lnTo>
                <a:lnTo>
                  <a:pt x="0" y="0"/>
                </a:lnTo>
                <a:close/>
              </a:path>
            </a:pathLst>
          </a:custGeom>
          <a:blipFill>
            <a:blip r:embed="rId5"/>
            <a:stretch>
              <a:fillRect/>
            </a:stretch>
          </a:blipFill>
        </p:spPr>
      </p:sp>
      <p:sp>
        <p:nvSpPr>
          <p:cNvPr id="8" name="TextBox 8"/>
          <p:cNvSpPr txBox="1"/>
          <p:nvPr/>
        </p:nvSpPr>
        <p:spPr>
          <a:xfrm>
            <a:off x="1964979" y="480079"/>
            <a:ext cx="13855226" cy="2625708"/>
          </a:xfrm>
          <a:prstGeom prst="rect">
            <a:avLst/>
          </a:prstGeom>
        </p:spPr>
        <p:txBody>
          <a:bodyPr lIns="0" tIns="0" rIns="0" bIns="0" rtlCol="0" anchor="t">
            <a:spAutoFit/>
          </a:bodyPr>
          <a:lstStyle/>
          <a:p>
            <a:pPr algn="ctr">
              <a:lnSpc>
                <a:spcPts val="7000"/>
              </a:lnSpc>
            </a:pPr>
            <a:r>
              <a:rPr lang="en-US" sz="5000" dirty="0">
                <a:solidFill>
                  <a:srgbClr val="000000"/>
                </a:solidFill>
                <a:latin typeface="EFCO Brookshire"/>
                <a:ea typeface="EFCO Brookshire"/>
                <a:cs typeface="EFCO Brookshire"/>
                <a:sym typeface="EFCO Brookshire"/>
              </a:rPr>
              <a:t>How does the car's horsepower, MPG, and price vary across different Brands?</a:t>
            </a:r>
          </a:p>
          <a:p>
            <a:pPr algn="ctr">
              <a:lnSpc>
                <a:spcPts val="7000"/>
              </a:lnSpc>
              <a:spcBef>
                <a:spcPct val="0"/>
              </a:spcBef>
            </a:pPr>
            <a:endParaRPr lang="en-US" sz="5000" dirty="0">
              <a:solidFill>
                <a:srgbClr val="000000"/>
              </a:solidFill>
              <a:latin typeface="EFCO Brookshire"/>
              <a:ea typeface="EFCO Brookshire"/>
              <a:cs typeface="EFCO Brookshire"/>
              <a:sym typeface="EFCO Brookshir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1833" y="-1231280"/>
            <a:ext cx="19211667" cy="12749561"/>
          </a:xfrm>
          <a:custGeom>
            <a:avLst/>
            <a:gdLst/>
            <a:ahLst/>
            <a:cxnLst/>
            <a:rect l="l" t="t" r="r" b="b"/>
            <a:pathLst>
              <a:path w="19211667" h="12749561">
                <a:moveTo>
                  <a:pt x="0" y="0"/>
                </a:moveTo>
                <a:lnTo>
                  <a:pt x="19211666" y="0"/>
                </a:lnTo>
                <a:lnTo>
                  <a:pt x="19211666" y="12749560"/>
                </a:lnTo>
                <a:lnTo>
                  <a:pt x="0" y="12749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030876"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b="-157427"/>
            </a:stretch>
          </a:blipFill>
        </p:spPr>
      </p:sp>
      <p:sp>
        <p:nvSpPr>
          <p:cNvPr id="4" name="Freeform 4"/>
          <p:cNvSpPr/>
          <p:nvPr/>
        </p:nvSpPr>
        <p:spPr>
          <a:xfrm>
            <a:off x="385752" y="311538"/>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r="-143856" b="-157427"/>
            </a:stretch>
          </a:blipFill>
        </p:spPr>
      </p:sp>
      <p:sp>
        <p:nvSpPr>
          <p:cNvPr id="5" name="Freeform 5"/>
          <p:cNvSpPr/>
          <p:nvPr/>
        </p:nvSpPr>
        <p:spPr>
          <a:xfrm>
            <a:off x="15030876"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l="-143856" t="-157427"/>
            </a:stretch>
          </a:blipFill>
        </p:spPr>
      </p:sp>
      <p:sp>
        <p:nvSpPr>
          <p:cNvPr id="6" name="Freeform 6"/>
          <p:cNvSpPr/>
          <p:nvPr/>
        </p:nvSpPr>
        <p:spPr>
          <a:xfrm>
            <a:off x="385752" y="6778603"/>
            <a:ext cx="2871372" cy="3196859"/>
          </a:xfrm>
          <a:custGeom>
            <a:avLst/>
            <a:gdLst/>
            <a:ahLst/>
            <a:cxnLst/>
            <a:rect l="l" t="t" r="r" b="b"/>
            <a:pathLst>
              <a:path w="2871372" h="3196859">
                <a:moveTo>
                  <a:pt x="0" y="0"/>
                </a:moveTo>
                <a:lnTo>
                  <a:pt x="2871372" y="0"/>
                </a:lnTo>
                <a:lnTo>
                  <a:pt x="2871372" y="3196859"/>
                </a:lnTo>
                <a:lnTo>
                  <a:pt x="0" y="3196859"/>
                </a:lnTo>
                <a:lnTo>
                  <a:pt x="0" y="0"/>
                </a:lnTo>
                <a:close/>
              </a:path>
            </a:pathLst>
          </a:custGeom>
          <a:blipFill>
            <a:blip r:embed="rId4">
              <a:alphaModFix amt="81000"/>
            </a:blip>
            <a:stretch>
              <a:fillRect t="-157427" r="-143856"/>
            </a:stretch>
          </a:blipFill>
        </p:spPr>
      </p:sp>
      <p:sp>
        <p:nvSpPr>
          <p:cNvPr id="7" name="Freeform 7"/>
          <p:cNvSpPr/>
          <p:nvPr/>
        </p:nvSpPr>
        <p:spPr>
          <a:xfrm>
            <a:off x="2077336" y="2691840"/>
            <a:ext cx="14133328" cy="4903319"/>
          </a:xfrm>
          <a:custGeom>
            <a:avLst/>
            <a:gdLst/>
            <a:ahLst/>
            <a:cxnLst/>
            <a:rect l="l" t="t" r="r" b="b"/>
            <a:pathLst>
              <a:path w="14133328" h="4903319">
                <a:moveTo>
                  <a:pt x="0" y="0"/>
                </a:moveTo>
                <a:lnTo>
                  <a:pt x="14133328" y="0"/>
                </a:lnTo>
                <a:lnTo>
                  <a:pt x="14133328" y="4903320"/>
                </a:lnTo>
                <a:lnTo>
                  <a:pt x="0" y="4903320"/>
                </a:lnTo>
                <a:lnTo>
                  <a:pt x="0" y="0"/>
                </a:lnTo>
                <a:close/>
              </a:path>
            </a:pathLst>
          </a:custGeom>
          <a:blipFill>
            <a:blip r:embed="rId5"/>
            <a:stretch>
              <a:fillRect/>
            </a:stretch>
          </a:blipFill>
        </p:spPr>
      </p:sp>
      <p:sp>
        <p:nvSpPr>
          <p:cNvPr id="8" name="TextBox 8"/>
          <p:cNvSpPr txBox="1"/>
          <p:nvPr/>
        </p:nvSpPr>
        <p:spPr>
          <a:xfrm>
            <a:off x="3866138" y="3814920"/>
            <a:ext cx="10555724" cy="2139950"/>
          </a:xfrm>
          <a:prstGeom prst="rect">
            <a:avLst/>
          </a:prstGeom>
        </p:spPr>
        <p:txBody>
          <a:bodyPr lIns="0" tIns="0" rIns="0" bIns="0" rtlCol="0" anchor="t">
            <a:spAutoFit/>
          </a:bodyPr>
          <a:lstStyle/>
          <a:p>
            <a:pPr algn="ctr">
              <a:lnSpc>
                <a:spcPts val="17500"/>
              </a:lnSpc>
            </a:pPr>
            <a:r>
              <a:rPr lang="en-US" sz="12500">
                <a:solidFill>
                  <a:srgbClr val="716B5C"/>
                </a:solidFill>
                <a:latin typeface="EFCO Brookshire"/>
                <a:ea typeface="EFCO Brookshire"/>
                <a:cs typeface="EFCO Brookshire"/>
                <a:sym typeface="EFCO Brookshir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1689</TotalTime>
  <Words>625</Words>
  <Application>Microsoft Office PowerPoint</Application>
  <PresentationFormat>Custom</PresentationFormat>
  <Paragraphs>31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Katibeh</vt:lpstr>
      <vt:lpstr>Arial</vt:lpstr>
      <vt:lpstr>EFCO Brookshire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to Shine with Templates &amp; Apps</dc:title>
  <cp:lastModifiedBy>satyanarayana muthyam</cp:lastModifiedBy>
  <cp:revision>4</cp:revision>
  <dcterms:created xsi:type="dcterms:W3CDTF">2006-08-16T00:00:00Z</dcterms:created>
  <dcterms:modified xsi:type="dcterms:W3CDTF">2025-02-12T08:34:26Z</dcterms:modified>
  <dc:identifier>DAGaQubqQLs</dc:identifier>
</cp:coreProperties>
</file>